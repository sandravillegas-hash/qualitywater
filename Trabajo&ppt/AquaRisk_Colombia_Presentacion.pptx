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0" r:id="rId4"/>
    <p:sldId id="273" r:id="rId5"/>
    <p:sldId id="259" r:id="rId6"/>
    <p:sldId id="260" r:id="rId7"/>
    <p:sldId id="261" r:id="rId8"/>
    <p:sldId id="281" r:id="rId9"/>
    <p:sldId id="275" r:id="rId10"/>
    <p:sldId id="262" r:id="rId11"/>
    <p:sldId id="267" r:id="rId12"/>
    <p:sldId id="269" r:id="rId13"/>
    <p:sldId id="270" r:id="rId14"/>
    <p:sldId id="263" r:id="rId15"/>
    <p:sldId id="271" r:id="rId16"/>
    <p:sldId id="272" r:id="rId17"/>
    <p:sldId id="264" r:id="rId18"/>
    <p:sldId id="265" r:id="rId19"/>
    <p:sldId id="26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BCDE"/>
    <a:srgbClr val="2041B0"/>
    <a:srgbClr val="0080C5"/>
    <a:srgbClr val="65E1F4"/>
    <a:srgbClr val="CFF8EA"/>
    <a:srgbClr val="CAF4FC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3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59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905F-B79B-4E24-ADA2-B0E17209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6E6B8-1277-92E7-8FFA-A0933E94D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A9FA9-B7B5-B78F-AC0F-B6F9490E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F95D9-4044-C478-C4BB-9EEC3A155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5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D258C-7F7B-9965-58F2-1B97B720C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50D24-2BCC-BE87-E9A2-8B16D3E60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3B2BD-50EF-34BB-DA9E-FF6A79D01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0EA1B-8C90-6B12-9996-35E8749C2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6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6100-FBFD-9D17-57AA-0DF539E54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D92B8-FD24-29C4-FCEA-F08570149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A91E5-DEEE-58D5-112D-5A0F4CD26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E8776-6638-6E25-C8AF-1A1B265FE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4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778C-167A-5FA0-BB78-7395FAD9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BA801-62FE-B3DD-7F6A-B55B6BC80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E1987-8F2F-88FA-2A0F-61CB0AFBE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74E5E-2973-0C57-E721-2153E4A30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166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E11A-AC43-1026-7DA4-241836C8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4075D-F2D7-14E0-D5D3-C2974FDB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AAA3E-AA72-A94E-7E31-390853A39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DAAB2-DFF4-D62F-402B-9944902CC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89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5436-E860-B449-3975-7F853EAB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6B3EA-3B4E-A21D-2D6B-42DF50191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31D05-1A64-B62A-E114-6220D4398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0D612-788C-3D97-3ABC-5F2021729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45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6A6E-2470-7F5D-FB7E-E9B3AC8E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65B2E-C88A-8456-0AE2-E70C52DDA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8C214-3252-EC75-B7EA-A196DF0B0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C4683-0EA4-D747-22BD-CBFAF2AC0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7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16F2-B99F-32CA-2D8F-4E421822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1669A-0AA8-2D36-6918-44D78F8E7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2933A-D3C0-6865-235D-349E40BD0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9C130-A773-9858-F67C-94D5D38C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9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AA7F-5BE3-F504-8E3A-F1B29157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385D9-9CA0-4EE1-3DC4-5A8EAAF95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1197C-5AFF-D403-D2A7-E52206198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25271-2ED1-915C-5F81-1D62D0A1B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58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andravillegas-hash.github.io/QualityWate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qualitywater-smv.streamlit.ap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qualitywater-smv.streamlit.app/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hyperlink" Target="https://sandravillegas-hash.github.io/QualityWa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AquaRisk Colombia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Análisis y Visualización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Histórica del IRCA en Colombia, 2007–2024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063240"/>
            <a:ext cx="18288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Erica Panqueva  ·  Sandra Villegas  ·  Carlos Cárdenas  ·  Andrea González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393192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Talento Tech · Nivel Intermedio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 de Trabajo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Talento Tech · Análisis de Datos · Nivel Intermedio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4340" y="155448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91540" y="18745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915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7150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Erica Julieth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Panqueva Méndez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" y="3749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1722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Geóloga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3180" y="155448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0403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0403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2034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Milena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Villegas Serna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66060" y="3749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660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Ingeniera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Sistemas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2020" y="155448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89220" y="18745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1892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6918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Cárdenas Hernández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750013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1490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Empresas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80860" y="155448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338060" y="187452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3380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18020" y="2971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Juliana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González Cárdenas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63740" y="37490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06374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Ingeniería Industrial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7B49-90E0-BC56-FFB1-00345F46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48503D-1290-8604-B863-DC36D5A39D31}"/>
              </a:ext>
            </a:extLst>
          </p:cNvPr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5259AA8-47B8-862A-92D2-5B53E112E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0A17AA5-F9D2-08F5-0158-51B8E76BA3F8}"/>
              </a:ext>
            </a:extLst>
          </p:cNvPr>
          <p:cNvSpPr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IRCA?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7E2C540-E56B-8C4F-7AD2-9B2E879ECCBA}"/>
              </a:ext>
            </a:extLst>
          </p:cNvPr>
          <p:cNvSpPr/>
          <p:nvPr/>
        </p:nvSpPr>
        <p:spPr>
          <a:xfrm>
            <a:off x="548640" y="2286000"/>
            <a:ext cx="279885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dirty="0">
                <a:solidFill>
                  <a:srgbClr val="7CB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IRCA - Índice de Riesgo de la Calidad del Agua - mide el grado de riesgo sanitario asociado al consumo de agua, a partir de sus características físicas, químicas y microbiológicas</a:t>
            </a:r>
            <a:endParaRPr lang="en-US" dirty="0">
              <a:solidFill>
                <a:srgbClr val="7CBCDE"/>
              </a:solidFill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7B70A4F-4925-0E25-ABE7-F7FC079A5871}"/>
              </a:ext>
            </a:extLst>
          </p:cNvPr>
          <p:cNvGrpSpPr/>
          <p:nvPr/>
        </p:nvGrpSpPr>
        <p:grpSpPr>
          <a:xfrm>
            <a:off x="3830583" y="151260"/>
            <a:ext cx="5579909" cy="4086599"/>
            <a:chOff x="536119" y="91879"/>
            <a:chExt cx="7136888" cy="498514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BDE5EBC-02D2-298D-A4A1-1C3296615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9582"/>
            <a:stretch>
              <a:fillRect/>
            </a:stretch>
          </p:blipFill>
          <p:spPr>
            <a:xfrm>
              <a:off x="536119" y="91879"/>
              <a:ext cx="5893103" cy="666448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480B959-7977-A5A9-899C-28879E896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440" y="930302"/>
              <a:ext cx="6569198" cy="4146717"/>
            </a:xfrm>
            <a:prstGeom prst="rect">
              <a:avLst/>
            </a:prstGeom>
          </p:spPr>
        </p:pic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5BD0CAD-7B69-9F6D-3951-4F5BD54284E3}"/>
                </a:ext>
              </a:extLst>
            </p:cNvPr>
            <p:cNvSpPr/>
            <p:nvPr/>
          </p:nvSpPr>
          <p:spPr>
            <a:xfrm>
              <a:off x="787178" y="850790"/>
              <a:ext cx="6885829" cy="1152939"/>
            </a:xfrm>
            <a:prstGeom prst="roundRect">
              <a:avLst/>
            </a:prstGeom>
            <a:solidFill>
              <a:srgbClr val="4472C4">
                <a:alpha val="392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50EF7CB0-1F12-65FF-561D-5493FD24E46B}"/>
                </a:ext>
              </a:extLst>
            </p:cNvPr>
            <p:cNvSpPr/>
            <p:nvPr/>
          </p:nvSpPr>
          <p:spPr>
            <a:xfrm>
              <a:off x="787178" y="2427190"/>
              <a:ext cx="6885829" cy="1152939"/>
            </a:xfrm>
            <a:prstGeom prst="roundRect">
              <a:avLst/>
            </a:prstGeom>
            <a:solidFill>
              <a:srgbClr val="CAF4FC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0BAFCADC-662D-653F-C2FC-B8D9D41C82C9}"/>
                </a:ext>
              </a:extLst>
            </p:cNvPr>
            <p:cNvSpPr/>
            <p:nvPr/>
          </p:nvSpPr>
          <p:spPr>
            <a:xfrm>
              <a:off x="674440" y="3924080"/>
              <a:ext cx="6885829" cy="1152939"/>
            </a:xfrm>
            <a:prstGeom prst="roundRect">
              <a:avLst/>
            </a:prstGeom>
            <a:solidFill>
              <a:srgbClr val="CFF8EA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3" name="Shape 26">
            <a:extLst>
              <a:ext uri="{FF2B5EF4-FFF2-40B4-BE49-F238E27FC236}">
                <a16:creationId xmlns:a16="http://schemas.microsoft.com/office/drawing/2014/main" id="{D1D37079-7958-E52A-0CD1-1E4AEBD24AD8}"/>
              </a:ext>
            </a:extLst>
          </p:cNvPr>
          <p:cNvSpPr/>
          <p:nvPr/>
        </p:nvSpPr>
        <p:spPr>
          <a:xfrm>
            <a:off x="3840480" y="4486600"/>
            <a:ext cx="5303519" cy="656899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27">
            <a:extLst>
              <a:ext uri="{FF2B5EF4-FFF2-40B4-BE49-F238E27FC236}">
                <a16:creationId xmlns:a16="http://schemas.microsoft.com/office/drawing/2014/main" id="{F2E298C5-739A-4EB1-4B6C-BB7635EAF340}"/>
              </a:ext>
            </a:extLst>
          </p:cNvPr>
          <p:cNvSpPr/>
          <p:nvPr/>
        </p:nvSpPr>
        <p:spPr>
          <a:xfrm>
            <a:off x="4500575" y="4580760"/>
            <a:ext cx="4770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“Colombia es una de las naciones con mayor riqueza hídrica del </a:t>
            </a:r>
            <a:r>
              <a:rPr lang="en-U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…”</a:t>
            </a:r>
            <a:endParaRPr lang="en-US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039F1BE-05F2-ABE4-1D85-3B991B2DBF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92" t="78120" r="87275" b="13390"/>
          <a:stretch>
            <a:fillRect/>
          </a:stretch>
        </p:blipFill>
        <p:spPr>
          <a:xfrm>
            <a:off x="4001042" y="4502305"/>
            <a:ext cx="436236" cy="456286"/>
          </a:xfrm>
          <a:prstGeom prst="rect">
            <a:avLst/>
          </a:prstGeom>
        </p:spPr>
      </p:pic>
      <p:sp>
        <p:nvSpPr>
          <p:cNvPr id="15" name="Text 27">
            <a:extLst>
              <a:ext uri="{FF2B5EF4-FFF2-40B4-BE49-F238E27FC236}">
                <a16:creationId xmlns:a16="http://schemas.microsoft.com/office/drawing/2014/main" id="{AC848FE4-C26A-3D73-F3CD-F5A5304AA496}"/>
              </a:ext>
            </a:extLst>
          </p:cNvPr>
          <p:cNvSpPr/>
          <p:nvPr/>
        </p:nvSpPr>
        <p:spPr>
          <a:xfrm>
            <a:off x="4437278" y="4464656"/>
            <a:ext cx="1005840" cy="325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5E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VITAL</a:t>
            </a:r>
            <a:endParaRPr lang="en-US" sz="1400" b="1" dirty="0">
              <a:solidFill>
                <a:srgbClr val="65E1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80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0E26-4143-4F70-12A7-F1293DD1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DF4265-F8B9-F941-F4C5-54AC2D72B5CC}"/>
              </a:ext>
            </a:extLst>
          </p:cNvPr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FD55F91-0AF2-1E27-B33B-3AEA0895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5A24C7C-FE2D-B331-6235-C3570EC6F246}"/>
              </a:ext>
            </a:extLst>
          </p:cNvPr>
          <p:cNvSpPr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IRCA?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471BDC-44D7-ABAD-D12D-FE0E7690C82A}"/>
              </a:ext>
            </a:extLst>
          </p:cNvPr>
          <p:cNvSpPr/>
          <p:nvPr/>
        </p:nvSpPr>
        <p:spPr>
          <a:xfrm>
            <a:off x="54864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Riesgo de 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Agua para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Humano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ABE727B-08A5-33B5-C051-3F78594ABB86}"/>
              </a:ext>
            </a:extLst>
          </p:cNvPr>
          <p:cNvSpPr/>
          <p:nvPr/>
        </p:nvSpPr>
        <p:spPr>
          <a:xfrm>
            <a:off x="548640" y="3246120"/>
            <a:ext cx="228600" cy="228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E256366-E34C-173F-7FE2-5D9B8F754E34}"/>
              </a:ext>
            </a:extLst>
          </p:cNvPr>
          <p:cNvSpPr/>
          <p:nvPr/>
        </p:nvSpPr>
        <p:spPr>
          <a:xfrm>
            <a:off x="914400" y="3246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5%  Sin riesgo</a:t>
            </a:r>
            <a:endParaRPr lang="en-US" sz="9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E78DC3-BD4A-CB2B-D89E-93D6BAC93AC5}"/>
              </a:ext>
            </a:extLst>
          </p:cNvPr>
          <p:cNvSpPr/>
          <p:nvPr/>
        </p:nvSpPr>
        <p:spPr>
          <a:xfrm>
            <a:off x="548640" y="3593592"/>
            <a:ext cx="228600" cy="228600"/>
          </a:xfrm>
          <a:prstGeom prst="rect">
            <a:avLst/>
          </a:prstGeom>
          <a:solidFill>
            <a:srgbClr val="6AB0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E188457-9EE5-8B65-57C4-A69F0AF1A9AC}"/>
              </a:ext>
            </a:extLst>
          </p:cNvPr>
          <p:cNvSpPr/>
          <p:nvPr/>
        </p:nvSpPr>
        <p:spPr>
          <a:xfrm>
            <a:off x="914400" y="3593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– 14%  Riesgo bajo</a:t>
            </a:r>
            <a:endParaRPr lang="en-US" sz="9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21ADBB4-18C7-2DA4-4609-F03BFBD84217}"/>
              </a:ext>
            </a:extLst>
          </p:cNvPr>
          <p:cNvSpPr/>
          <p:nvPr/>
        </p:nvSpPr>
        <p:spPr>
          <a:xfrm>
            <a:off x="548640" y="3941064"/>
            <a:ext cx="228600" cy="228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DC50B7F-1CD9-837A-6E10-3F9A04982083}"/>
              </a:ext>
            </a:extLst>
          </p:cNvPr>
          <p:cNvSpPr/>
          <p:nvPr/>
        </p:nvSpPr>
        <p:spPr>
          <a:xfrm>
            <a:off x="914400" y="39410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– 35%  Riesgo medio</a:t>
            </a:r>
            <a:endParaRPr lang="en-US" sz="9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A03908F-920D-B86A-B7B7-BE774032442D}"/>
              </a:ext>
            </a:extLst>
          </p:cNvPr>
          <p:cNvSpPr/>
          <p:nvPr/>
        </p:nvSpPr>
        <p:spPr>
          <a:xfrm>
            <a:off x="548640" y="4288536"/>
            <a:ext cx="228600" cy="2286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A2813DF-7ABA-2814-0883-0B7D076B93F3}"/>
              </a:ext>
            </a:extLst>
          </p:cNvPr>
          <p:cNvSpPr/>
          <p:nvPr/>
        </p:nvSpPr>
        <p:spPr>
          <a:xfrm>
            <a:off x="914400" y="4288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 – 80%  Riesgo alto</a:t>
            </a:r>
            <a:endParaRPr lang="en-US" sz="9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5AAD237-39C4-1BBB-E4B9-DBD318EC5A46}"/>
              </a:ext>
            </a:extLst>
          </p:cNvPr>
          <p:cNvSpPr/>
          <p:nvPr/>
        </p:nvSpPr>
        <p:spPr>
          <a:xfrm>
            <a:off x="548640" y="4636008"/>
            <a:ext cx="22860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B14AB7F-FB0C-B151-4D61-44D64E37E60B}"/>
              </a:ext>
            </a:extLst>
          </p:cNvPr>
          <p:cNvSpPr/>
          <p:nvPr/>
        </p:nvSpPr>
        <p:spPr>
          <a:xfrm>
            <a:off x="914400" y="4636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 – 100%  Inviable</a:t>
            </a:r>
            <a:endParaRPr lang="en-US" sz="9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6A28CC6-B1AC-63EF-33FC-FF3D6E5E3730}"/>
              </a:ext>
            </a:extLst>
          </p:cNvPr>
          <p:cNvSpPr/>
          <p:nvPr/>
        </p:nvSpPr>
        <p:spPr>
          <a:xfrm>
            <a:off x="42976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Normativo</a:t>
            </a:r>
            <a:endParaRPr lang="en-US" sz="2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7359AAD-8C0D-3D9E-F855-5384D250445B}"/>
              </a:ext>
            </a:extLst>
          </p:cNvPr>
          <p:cNvSpPr/>
          <p:nvPr/>
        </p:nvSpPr>
        <p:spPr>
          <a:xfrm>
            <a:off x="4297680" y="1097280"/>
            <a:ext cx="4389120" cy="9601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4C552D5-72DE-2399-CF08-E7A67716819C}"/>
              </a:ext>
            </a:extLst>
          </p:cNvPr>
          <p:cNvSpPr/>
          <p:nvPr/>
        </p:nvSpPr>
        <p:spPr>
          <a:xfrm>
            <a:off x="4297680" y="109728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A36CA8A-FA13-5E75-C83F-5DDD628A3F5F}"/>
              </a:ext>
            </a:extLst>
          </p:cNvPr>
          <p:cNvSpPr/>
          <p:nvPr/>
        </p:nvSpPr>
        <p:spPr>
          <a:xfrm>
            <a:off x="45720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1575 de 2007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7C32E9D-3C19-0E51-8572-A343E988A330}"/>
              </a:ext>
            </a:extLst>
          </p:cNvPr>
          <p:cNvSpPr/>
          <p:nvPr/>
        </p:nvSpPr>
        <p:spPr>
          <a:xfrm>
            <a:off x="457200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el Sistema para la Protección y Control de la Calidad del Agua para Consumo Humano en Colombia.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77BF679-9F57-AFDE-BF15-78237BB3DF4D}"/>
              </a:ext>
            </a:extLst>
          </p:cNvPr>
          <p:cNvSpPr/>
          <p:nvPr/>
        </p:nvSpPr>
        <p:spPr>
          <a:xfrm>
            <a:off x="4297680" y="2286000"/>
            <a:ext cx="4389120" cy="9601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3D90453-F109-CEEC-97DF-0C03F2D32DF2}"/>
              </a:ext>
            </a:extLst>
          </p:cNvPr>
          <p:cNvSpPr/>
          <p:nvPr/>
        </p:nvSpPr>
        <p:spPr>
          <a:xfrm>
            <a:off x="4297680" y="228600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FA7CE1F-90F5-4327-4985-726B034F6F45}"/>
              </a:ext>
            </a:extLst>
          </p:cNvPr>
          <p:cNvSpPr/>
          <p:nvPr/>
        </p:nvSpPr>
        <p:spPr>
          <a:xfrm>
            <a:off x="45720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2115 de 2007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D627B75-B10D-FE7F-4F47-A4B3C38B8013}"/>
              </a:ext>
            </a:extLst>
          </p:cNvPr>
          <p:cNvSpPr/>
          <p:nvPr/>
        </p:nvSpPr>
        <p:spPr>
          <a:xfrm>
            <a:off x="457200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las características, instrumentos y frecuencias del sistema de control y vigilancia.</a:t>
            </a:r>
            <a:endParaRPr lang="en-US" sz="11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C7C625B-217B-C1B0-9174-01CBF2505CA2}"/>
              </a:ext>
            </a:extLst>
          </p:cNvPr>
          <p:cNvSpPr/>
          <p:nvPr/>
        </p:nvSpPr>
        <p:spPr>
          <a:xfrm>
            <a:off x="4297680" y="3474720"/>
            <a:ext cx="4389120" cy="9601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CEF87FF0-C1AC-5E2C-08DC-68A1C8876B61}"/>
              </a:ext>
            </a:extLst>
          </p:cNvPr>
          <p:cNvSpPr/>
          <p:nvPr/>
        </p:nvSpPr>
        <p:spPr>
          <a:xfrm>
            <a:off x="4297680" y="3474720"/>
            <a:ext cx="54864" cy="9601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471BD76-8F70-2B39-37FE-9AE3A3B54789}"/>
              </a:ext>
            </a:extLst>
          </p:cNvPr>
          <p:cNvSpPr/>
          <p:nvPr/>
        </p:nvSpPr>
        <p:spPr>
          <a:xfrm>
            <a:off x="457200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6 y ODS 3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7FF36B3-81A0-D3E4-6FAC-B34576ECC9C7}"/>
              </a:ext>
            </a:extLst>
          </p:cNvPr>
          <p:cNvSpPr/>
          <p:nvPr/>
        </p:nvSpPr>
        <p:spPr>
          <a:xfrm>
            <a:off x="4572000" y="3886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limpia, saneamiento y bienestar — alineación con los ODS de la ONU.</a:t>
            </a:r>
            <a:endParaRPr lang="en-US" sz="11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82D5977-AAD5-44F0-2F02-BBCD5552B0CB}"/>
              </a:ext>
            </a:extLst>
          </p:cNvPr>
          <p:cNvSpPr/>
          <p:nvPr/>
        </p:nvSpPr>
        <p:spPr>
          <a:xfrm>
            <a:off x="4297680" y="4503420"/>
            <a:ext cx="438912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2D87CE6-FF2D-DBFE-EBAC-0530FD3B3D68}"/>
              </a:ext>
            </a:extLst>
          </p:cNvPr>
          <p:cNvSpPr/>
          <p:nvPr/>
        </p:nvSpPr>
        <p:spPr>
          <a:xfrm>
            <a:off x="4480560" y="45034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“Colombia es una de las naciones con mayor riqueza hídrica del </a:t>
            </a:r>
            <a:r>
              <a:rPr lang="en-U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890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Identificado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"Datos abundantes, pero información escasa"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840480" cy="100584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bg2">
              <a:alpha val="85000"/>
            </a:scheme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146304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riesgos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sencillo detectar municipios con niveles crónicos de agua inviable sanitariamente.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2468880"/>
            <a:ext cx="3840480" cy="100584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937760" y="2651760"/>
            <a:ext cx="548640" cy="548640"/>
          </a:xfrm>
          <a:prstGeom prst="ellipse">
            <a:avLst/>
          </a:prstGeom>
          <a:solidFill>
            <a:srgbClr val="F4A261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77063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Invisibilidad de brechas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6928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diferencias entre zonas urbanas y rurales no están documentadas visualmente.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3840480" cy="100584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850392" y="395935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para salud pública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alertas tempranas basadas en datos históricos para prevenir brotes.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4937760" y="3840480"/>
            <a:ext cx="548640" cy="54864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5056632" y="395935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en gestión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Prestadores de servicios carecen de herramientas comparativas ágiles.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27" y="273691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14630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app web interactiva que permita explorar, analizar y visualizar el histórico del IRCA en Colombia a nivel departamental y municipal (2007–2024).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Recopilar, limpiar y estructurar datos históricos del IRCA (2007–2024)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73152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municipios con niveles de riesgo que superan los límites normativos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1520" y="34747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3444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brechas en calidad del agua entre zonas urbanas y rurales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73152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480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3444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dashboards interactivos para autoridades y organismos de control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Metodológico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datos: desde la fuente hasta la visualización interactiva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371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3716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65A82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971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SIVICAP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92808" y="2697480"/>
            <a:ext cx="28346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2194560" y="1554480"/>
            <a:ext cx="1371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2194560" y="155448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2560320" y="1783080"/>
            <a:ext cx="640080" cy="640080"/>
          </a:xfrm>
          <a:prstGeom prst="ellipse">
            <a:avLst/>
          </a:prstGeom>
          <a:solidFill>
            <a:srgbClr val="1C7293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2697480" y="1920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286000" y="2971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84448" y="2697480"/>
            <a:ext cx="28346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3886200" y="1554480"/>
            <a:ext cx="1371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3886200" y="1554480"/>
            <a:ext cx="13716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02C39A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4389120" y="19202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7764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EDA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977640" y="2971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76088" y="2697480"/>
            <a:ext cx="28346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0"/>
          <p:cNvSpPr/>
          <p:nvPr/>
        </p:nvSpPr>
        <p:spPr>
          <a:xfrm>
            <a:off x="5577840" y="1554480"/>
            <a:ext cx="1371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1"/>
          <p:cNvSpPr/>
          <p:nvPr/>
        </p:nvSpPr>
        <p:spPr>
          <a:xfrm>
            <a:off x="5577840" y="1554480"/>
            <a:ext cx="13716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5943600" y="1783080"/>
            <a:ext cx="640080" cy="640080"/>
          </a:xfrm>
          <a:prstGeom prst="ellipse">
            <a:avLst/>
          </a:prstGeom>
          <a:solidFill>
            <a:srgbClr val="065A82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6080760" y="19202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669280" y="2971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</a:t>
            </a: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Base de </a:t>
            </a:r>
            <a:r>
              <a:rPr lang="en-US" sz="10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MySQL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967728" y="2697480"/>
            <a:ext cx="283464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6"/>
          <p:cNvSpPr/>
          <p:nvPr/>
        </p:nvSpPr>
        <p:spPr>
          <a:xfrm>
            <a:off x="7269480" y="1554480"/>
            <a:ext cx="1371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7"/>
          <p:cNvSpPr/>
          <p:nvPr/>
        </p:nvSpPr>
        <p:spPr>
          <a:xfrm>
            <a:off x="7269480" y="1554480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28"/>
          <p:cNvSpPr/>
          <p:nvPr/>
        </p:nvSpPr>
        <p:spPr>
          <a:xfrm>
            <a:off x="7635240" y="1783080"/>
            <a:ext cx="640080" cy="640080"/>
          </a:xfrm>
          <a:prstGeom prst="ellipse">
            <a:avLst/>
          </a:prstGeom>
          <a:solidFill>
            <a:srgbClr val="1C7293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7772400" y="192024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609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360920" y="2971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2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   Python 3.11  ·  Streamlit  ·  Pandas  ·  Plotly  ·  Folium  ·  Scikit-learn  ·  Git/GitHub . MySQL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AA9A-511F-7F23-00BA-2DD19DB9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8CDAB7-A5B9-AC16-AB0F-76940A479B51}"/>
              </a:ext>
            </a:extLst>
          </p:cNvPr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Notebook: </a:t>
            </a:r>
            <a:r>
              <a:rPr lang="en-US" sz="2000" b="1" dirty="0">
                <a:solidFill>
                  <a:schemeClr val="bg1"/>
                </a:solidFill>
                <a:highlight>
                  <a:srgbClr val="00808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EDA_IRCA_MUESTRAS</a:t>
            </a:r>
            <a:endParaRPr lang="en-US" sz="2600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21DE0A-7C57-9479-EFE8-8F3C2FFFC1ED}"/>
              </a:ext>
            </a:extLst>
          </p:cNvPr>
          <p:cNvSpPr/>
          <p:nvPr/>
        </p:nvSpPr>
        <p:spPr>
          <a:xfrm>
            <a:off x="274320" y="808725"/>
            <a:ext cx="8666695" cy="4140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FB3527-7B2D-53DB-F379-B4C6C06BB907}"/>
              </a:ext>
            </a:extLst>
          </p:cNvPr>
          <p:cNvSpPr/>
          <p:nvPr/>
        </p:nvSpPr>
        <p:spPr>
          <a:xfrm>
            <a:off x="274321" y="808726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6243959-89F2-1492-81E2-0E7B9F326BF8}"/>
              </a:ext>
            </a:extLst>
          </p:cNvPr>
          <p:cNvSpPr/>
          <p:nvPr/>
        </p:nvSpPr>
        <p:spPr>
          <a:xfrm>
            <a:off x="457201" y="89102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589E93-D0AB-1A44-42AC-C1294BAC94D4}"/>
              </a:ext>
            </a:extLst>
          </p:cNvPr>
          <p:cNvSpPr/>
          <p:nvPr/>
        </p:nvSpPr>
        <p:spPr>
          <a:xfrm>
            <a:off x="649225" y="89102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9A3E836-F5A0-2786-3BD8-C7EC5C922E00}"/>
              </a:ext>
            </a:extLst>
          </p:cNvPr>
          <p:cNvSpPr/>
          <p:nvPr/>
        </p:nvSpPr>
        <p:spPr>
          <a:xfrm>
            <a:off x="841249" y="89102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6F5125A-E8B2-37FD-7D4C-004EE3F69EA2}"/>
              </a:ext>
            </a:extLst>
          </p:cNvPr>
          <p:cNvSpPr/>
          <p:nvPr/>
        </p:nvSpPr>
        <p:spPr>
          <a:xfrm>
            <a:off x="1188721" y="872734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B9E5B3-3845-B33B-CF9A-0F7A4F17204F}"/>
              </a:ext>
            </a:extLst>
          </p:cNvPr>
          <p:cNvSpPr/>
          <p:nvPr/>
        </p:nvSpPr>
        <p:spPr>
          <a:xfrm>
            <a:off x="1188721" y="87273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EDA_IRCA_MUESTRAS.ipynb</a:t>
            </a:r>
            <a:endParaRPr lang="en-US" sz="8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923D724-08DA-B473-4AE2-BE9DBCD30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7" y="1137910"/>
            <a:ext cx="7243638" cy="33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0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F7D9-6866-AC6F-40EF-5F7659CD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hlinkClick r:id="rId3"/>
            <a:extLst>
              <a:ext uri="{FF2B5EF4-FFF2-40B4-BE49-F238E27FC236}">
                <a16:creationId xmlns:a16="http://schemas.microsoft.com/office/drawing/2014/main" id="{E471CAF2-8D80-1553-FA91-08AF90FFF08B}"/>
              </a:ext>
            </a:extLst>
          </p:cNvPr>
          <p:cNvSpPr/>
          <p:nvPr/>
        </p:nvSpPr>
        <p:spPr>
          <a:xfrm>
            <a:off x="6817065" y="285156"/>
            <a:ext cx="1706733" cy="317561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2A55AAD-EFFC-4618-1F3B-4D74A7418317}"/>
              </a:ext>
            </a:extLst>
          </p:cNvPr>
          <p:cNvSpPr/>
          <p:nvPr/>
        </p:nvSpPr>
        <p:spPr>
          <a:xfrm>
            <a:off x="556591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page: </a:t>
            </a:r>
            <a:r>
              <a:rPr lang="en-US" sz="2000" b="1" dirty="0" err="1">
                <a:solidFill>
                  <a:schemeClr val="bg1"/>
                </a:solidFill>
                <a:highlight>
                  <a:srgbClr val="00008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r>
              <a:rPr lang="en-US" sz="2000" b="1" dirty="0" err="1">
                <a:solidFill>
                  <a:srgbClr val="0080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</a:t>
            </a:r>
            <a:endParaRPr lang="en-US" sz="2600" dirty="0">
              <a:solidFill>
                <a:srgbClr val="0080C5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7B4F5B-A396-6D0C-7D49-26CC6C138C0F}"/>
              </a:ext>
            </a:extLst>
          </p:cNvPr>
          <p:cNvSpPr/>
          <p:nvPr/>
        </p:nvSpPr>
        <p:spPr>
          <a:xfrm>
            <a:off x="274320" y="808725"/>
            <a:ext cx="8666695" cy="4140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2F8284-131A-FFC9-BC00-A335A2BC6B11}"/>
              </a:ext>
            </a:extLst>
          </p:cNvPr>
          <p:cNvSpPr/>
          <p:nvPr/>
        </p:nvSpPr>
        <p:spPr>
          <a:xfrm>
            <a:off x="274321" y="808726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B6E11A1-EB36-60A8-4D3D-A31E7816FE35}"/>
              </a:ext>
            </a:extLst>
          </p:cNvPr>
          <p:cNvSpPr/>
          <p:nvPr/>
        </p:nvSpPr>
        <p:spPr>
          <a:xfrm>
            <a:off x="457201" y="89102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4A3C610-0287-6553-FDCF-66008219C31A}"/>
              </a:ext>
            </a:extLst>
          </p:cNvPr>
          <p:cNvSpPr/>
          <p:nvPr/>
        </p:nvSpPr>
        <p:spPr>
          <a:xfrm>
            <a:off x="649225" y="89102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59544A0-C208-48C7-B812-2738FFFFF591}"/>
              </a:ext>
            </a:extLst>
          </p:cNvPr>
          <p:cNvSpPr/>
          <p:nvPr/>
        </p:nvSpPr>
        <p:spPr>
          <a:xfrm>
            <a:off x="841249" y="89102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AEED391-DBA2-6B7F-93F3-FC9E9EC53DD2}"/>
              </a:ext>
            </a:extLst>
          </p:cNvPr>
          <p:cNvSpPr/>
          <p:nvPr/>
        </p:nvSpPr>
        <p:spPr>
          <a:xfrm>
            <a:off x="1188721" y="872734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A9B829-3227-3C1D-CD7E-8EF6E4AE1DC7}"/>
              </a:ext>
            </a:extLst>
          </p:cNvPr>
          <p:cNvSpPr/>
          <p:nvPr/>
        </p:nvSpPr>
        <p:spPr>
          <a:xfrm>
            <a:off x="1188721" y="87273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https://sandravillegas-hash.github.io/QualityWater/</a:t>
            </a:r>
            <a:endParaRPr lang="en-US" sz="8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E4880F3-710B-84D1-09E4-4B8D3C70CF38}"/>
              </a:ext>
            </a:extLst>
          </p:cNvPr>
          <p:cNvSpPr/>
          <p:nvPr/>
        </p:nvSpPr>
        <p:spPr>
          <a:xfrm>
            <a:off x="6817065" y="283331"/>
            <a:ext cx="1706733" cy="31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LA PÁGINA</a:t>
            </a:r>
            <a:endParaRPr lang="en-US" sz="9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9EBAEA8-4F18-6101-EF7A-DFBC4E7D9A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08"/>
          <a:stretch>
            <a:fillRect/>
          </a:stretch>
        </p:blipFill>
        <p:spPr>
          <a:xfrm>
            <a:off x="892740" y="1119622"/>
            <a:ext cx="6777691" cy="36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3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Vivo: </a:t>
            </a:r>
            <a:r>
              <a:rPr lang="en-US" sz="2600" b="1" dirty="0">
                <a:solidFill>
                  <a:schemeClr val="bg1"/>
                </a:solidFill>
                <a:highlight>
                  <a:srgbClr val="00808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Dashboard Principal</a:t>
            </a:r>
            <a:endParaRPr lang="en-US" sz="2600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08725"/>
            <a:ext cx="8666695" cy="414061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1" y="808726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1" y="89102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49225" y="89102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41249" y="89102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188721" y="872734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88721" y="87273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9D70AFB-B8D4-7EB1-F1F2-9B262ADA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3630"/>
            <a:ext cx="7810242" cy="343126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6830171" y="19110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>
            <a:hlinkClick r:id="rId4" tooltip="https://qualitywater-smv.streamlit.app/"/>
          </p:cNvPr>
          <p:cNvSpPr/>
          <p:nvPr/>
        </p:nvSpPr>
        <p:spPr>
          <a:xfrm>
            <a:off x="6868013" y="197621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18B0-65FA-53F1-E5E8-A2213981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1B983F-BFC2-9187-CF68-2C2B4161D432}"/>
              </a:ext>
            </a:extLst>
          </p:cNvPr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Vivo: Dashboard Principal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EB85BB-2129-59C2-895B-8D1B43491F60}"/>
              </a:ext>
            </a:extLst>
          </p:cNvPr>
          <p:cNvSpPr/>
          <p:nvPr/>
        </p:nvSpPr>
        <p:spPr>
          <a:xfrm>
            <a:off x="274320" y="658368"/>
            <a:ext cx="8595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F50208-244C-DF69-DE00-8FC90A8F21C3}"/>
              </a:ext>
            </a:extLst>
          </p:cNvPr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9C4414-C4F7-EFCD-44F0-6BF6DAC1B259}"/>
              </a:ext>
            </a:extLst>
          </p:cNvPr>
          <p:cNvSpPr/>
          <p:nvPr/>
        </p:nvSpPr>
        <p:spPr>
          <a:xfrm>
            <a:off x="457200" y="74066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2E5C411-3E24-03F2-2512-A7BA8AF98CDB}"/>
              </a:ext>
            </a:extLst>
          </p:cNvPr>
          <p:cNvSpPr/>
          <p:nvPr/>
        </p:nvSpPr>
        <p:spPr>
          <a:xfrm>
            <a:off x="649224" y="74066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FFAF221-715A-D6FD-628D-D10CFADBA088}"/>
              </a:ext>
            </a:extLst>
          </p:cNvPr>
          <p:cNvSpPr/>
          <p:nvPr/>
        </p:nvSpPr>
        <p:spPr>
          <a:xfrm>
            <a:off x="841248" y="74066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80D718-F4FB-4ADB-35B7-7B2AD9089EF1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9B66FC-CA8D-C2BD-242E-ACCC06BE9881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B81302-0F56-4D20-0FF5-140714321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69848"/>
            <a:ext cx="7963710" cy="3581540"/>
          </a:xfrm>
          <a:prstGeom prst="rect">
            <a:avLst/>
          </a:prstGeom>
        </p:spPr>
      </p:pic>
      <p:sp>
        <p:nvSpPr>
          <p:cNvPr id="12" name="Shape 1">
            <a:extLst>
              <a:ext uri="{FF2B5EF4-FFF2-40B4-BE49-F238E27FC236}">
                <a16:creationId xmlns:a16="http://schemas.microsoft.com/office/drawing/2014/main" id="{224DF4B5-C8A8-34D6-BC6F-4E6E5D43A498}"/>
              </a:ext>
            </a:extLst>
          </p:cNvPr>
          <p:cNvSpPr/>
          <p:nvPr/>
        </p:nvSpPr>
        <p:spPr>
          <a:xfrm>
            <a:off x="6911598" y="192853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2">
            <a:hlinkClick r:id="rId4" tooltip="https://qualitywater-smv.streamlit.app/"/>
            <a:extLst>
              <a:ext uri="{FF2B5EF4-FFF2-40B4-BE49-F238E27FC236}">
                <a16:creationId xmlns:a16="http://schemas.microsoft.com/office/drawing/2014/main" id="{4BB38B95-9AB2-38C9-579D-C6A4B22172C9}"/>
              </a:ext>
            </a:extLst>
          </p:cNvPr>
          <p:cNvSpPr/>
          <p:nvPr/>
        </p:nvSpPr>
        <p:spPr>
          <a:xfrm>
            <a:off x="6949440" y="19936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5756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F658-1923-606A-2404-36378DE9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5B8FBE-5C99-C44C-15E9-A2458DAF2261}"/>
              </a:ext>
            </a:extLst>
          </p:cNvPr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Vivo: Dashboard Principal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0DB8EB-53E6-AED5-AECE-DA67301B0ADC}"/>
              </a:ext>
            </a:extLst>
          </p:cNvPr>
          <p:cNvSpPr/>
          <p:nvPr/>
        </p:nvSpPr>
        <p:spPr>
          <a:xfrm>
            <a:off x="274320" y="658368"/>
            <a:ext cx="8595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F57EE4-96D5-0240-94F7-2CF3EAD38744}"/>
              </a:ext>
            </a:extLst>
          </p:cNvPr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0495C2-FAF5-6D58-D248-5F2F7DF57CB6}"/>
              </a:ext>
            </a:extLst>
          </p:cNvPr>
          <p:cNvSpPr/>
          <p:nvPr/>
        </p:nvSpPr>
        <p:spPr>
          <a:xfrm>
            <a:off x="457200" y="74066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C18A1A-880B-FADA-0A82-5D982E0BE42D}"/>
              </a:ext>
            </a:extLst>
          </p:cNvPr>
          <p:cNvSpPr/>
          <p:nvPr/>
        </p:nvSpPr>
        <p:spPr>
          <a:xfrm>
            <a:off x="649224" y="74066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A90C259-74A7-1A3B-B379-3B68D4475703}"/>
              </a:ext>
            </a:extLst>
          </p:cNvPr>
          <p:cNvSpPr/>
          <p:nvPr/>
        </p:nvSpPr>
        <p:spPr>
          <a:xfrm>
            <a:off x="841248" y="74066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BC89B6-90F1-F543-2CBA-24FFDC652FC2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9D2A19-E70D-B60D-EF47-3FD5073C691B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190335-98EB-E0EC-7916-898C73A3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33272"/>
            <a:ext cx="8294239" cy="3712659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5075AFC1-CCF7-012A-65C7-2DED42331FF0}"/>
              </a:ext>
            </a:extLst>
          </p:cNvPr>
          <p:cNvSpPr/>
          <p:nvPr/>
        </p:nvSpPr>
        <p:spPr>
          <a:xfrm>
            <a:off x="6822219" y="160784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2">
            <a:hlinkClick r:id="rId4" tooltip="https://qualitywater-smv.streamlit.app/"/>
            <a:extLst>
              <a:ext uri="{FF2B5EF4-FFF2-40B4-BE49-F238E27FC236}">
                <a16:creationId xmlns:a16="http://schemas.microsoft.com/office/drawing/2014/main" id="{12DA1E13-8126-348D-4C64-AE0A37EDFE22}"/>
              </a:ext>
            </a:extLst>
          </p:cNvPr>
          <p:cNvSpPr/>
          <p:nvPr/>
        </p:nvSpPr>
        <p:spPr>
          <a:xfrm>
            <a:off x="6860061" y="167297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59960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A1047-4CA5-A179-F8E0-E39AA5B9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C0909B-ADB2-CCB9-D0FD-CCEBCCBB8D63}"/>
              </a:ext>
            </a:extLst>
          </p:cNvPr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</a:t>
            </a:r>
            <a:r>
              <a:rPr lang="en-US" sz="2600" b="1" dirty="0" err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</a:t>
            </a: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Comparativo</a:t>
            </a: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Mapa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67A028-9475-292F-550D-61A01FEBFDEB}"/>
              </a:ext>
            </a:extLst>
          </p:cNvPr>
          <p:cNvSpPr/>
          <p:nvPr/>
        </p:nvSpPr>
        <p:spPr>
          <a:xfrm>
            <a:off x="6693926" y="173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9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067965-A02E-E554-8271-0B9F7AED2516}"/>
              </a:ext>
            </a:extLst>
          </p:cNvPr>
          <p:cNvSpPr/>
          <p:nvPr/>
        </p:nvSpPr>
        <p:spPr>
          <a:xfrm>
            <a:off x="274320" y="658368"/>
            <a:ext cx="8595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17E1CD-75B6-6167-84E7-D2A06D1F7D90}"/>
              </a:ext>
            </a:extLst>
          </p:cNvPr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D468F9-8F36-9771-FFEF-402A0E34ABB1}"/>
              </a:ext>
            </a:extLst>
          </p:cNvPr>
          <p:cNvSpPr/>
          <p:nvPr/>
        </p:nvSpPr>
        <p:spPr>
          <a:xfrm>
            <a:off x="457200" y="74066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554F0E8-D542-8799-90D1-873096061526}"/>
              </a:ext>
            </a:extLst>
          </p:cNvPr>
          <p:cNvSpPr/>
          <p:nvPr/>
        </p:nvSpPr>
        <p:spPr>
          <a:xfrm>
            <a:off x="649224" y="74066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F48961-6A31-171A-0AB2-B6A625AE170A}"/>
              </a:ext>
            </a:extLst>
          </p:cNvPr>
          <p:cNvSpPr/>
          <p:nvPr/>
        </p:nvSpPr>
        <p:spPr>
          <a:xfrm>
            <a:off x="841248" y="74066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8780D0-CED4-2147-EF64-BBD5B3BEC197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0AF87C-69FE-EC10-0668-4312863828B6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B117C26-5798-C4F7-57ED-5E454B1EB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71" y="1069848"/>
            <a:ext cx="8165397" cy="3751787"/>
          </a:xfrm>
          <a:prstGeom prst="rect">
            <a:avLst/>
          </a:prstGeom>
        </p:spPr>
      </p:pic>
      <p:sp>
        <p:nvSpPr>
          <p:cNvPr id="12" name="Shape 1">
            <a:extLst>
              <a:ext uri="{FF2B5EF4-FFF2-40B4-BE49-F238E27FC236}">
                <a16:creationId xmlns:a16="http://schemas.microsoft.com/office/drawing/2014/main" id="{1A64E9F6-581B-DFA2-4395-5E5006ACC58C}"/>
              </a:ext>
            </a:extLst>
          </p:cNvPr>
          <p:cNvSpPr/>
          <p:nvPr/>
        </p:nvSpPr>
        <p:spPr>
          <a:xfrm>
            <a:off x="6911598" y="181016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2">
            <a:hlinkClick r:id="rId4" tooltip="https://qualitywater-smv.streamlit.app/"/>
            <a:extLst>
              <a:ext uri="{FF2B5EF4-FFF2-40B4-BE49-F238E27FC236}">
                <a16:creationId xmlns:a16="http://schemas.microsoft.com/office/drawing/2014/main" id="{F8DFE29C-37D8-7D91-6D06-65E379A5EAA9}"/>
              </a:ext>
            </a:extLst>
          </p:cNvPr>
          <p:cNvSpPr/>
          <p:nvPr/>
        </p:nvSpPr>
        <p:spPr>
          <a:xfrm>
            <a:off x="6949440" y="187529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4706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A766888C-7867-5F6D-4463-33C489889C6D}"/>
              </a:ext>
            </a:extLst>
          </p:cNvPr>
          <p:cNvGrpSpPr/>
          <p:nvPr/>
        </p:nvGrpSpPr>
        <p:grpSpPr>
          <a:xfrm>
            <a:off x="274320" y="658368"/>
            <a:ext cx="8595360" cy="4251960"/>
            <a:chOff x="274320" y="658368"/>
            <a:chExt cx="8595360" cy="4251960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8EC0BE8A-F69C-78C6-C7AB-5E5C44F8F486}"/>
                </a:ext>
              </a:extLst>
            </p:cNvPr>
            <p:cNvSpPr/>
            <p:nvPr/>
          </p:nvSpPr>
          <p:spPr>
            <a:xfrm>
              <a:off x="274320" y="658368"/>
              <a:ext cx="8595360" cy="4251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EE2E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9C35068-01F7-3E3B-EF5A-690ADA6B97F2}"/>
                </a:ext>
              </a:extLst>
            </p:cNvPr>
            <p:cNvSpPr/>
            <p:nvPr/>
          </p:nvSpPr>
          <p:spPr>
            <a:xfrm>
              <a:off x="274320" y="658368"/>
              <a:ext cx="8595360" cy="292608"/>
            </a:xfrm>
            <a:prstGeom prst="rect">
              <a:avLst/>
            </a:prstGeom>
            <a:solidFill>
              <a:srgbClr val="F1F3F5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61747774-F9C6-EA4A-3B9F-D7F109FFB305}"/>
                </a:ext>
              </a:extLst>
            </p:cNvPr>
            <p:cNvSpPr/>
            <p:nvPr/>
          </p:nvSpPr>
          <p:spPr>
            <a:xfrm>
              <a:off x="457200" y="740664"/>
              <a:ext cx="118872" cy="118872"/>
            </a:xfrm>
            <a:prstGeom prst="ellipse">
              <a:avLst/>
            </a:prstGeom>
            <a:solidFill>
              <a:srgbClr val="FF5F57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CBAC77AC-4E05-CED6-3FB2-BBD94FABDBAE}"/>
                </a:ext>
              </a:extLst>
            </p:cNvPr>
            <p:cNvSpPr/>
            <p:nvPr/>
          </p:nvSpPr>
          <p:spPr>
            <a:xfrm>
              <a:off x="649224" y="740664"/>
              <a:ext cx="118872" cy="118872"/>
            </a:xfrm>
            <a:prstGeom prst="ellipse">
              <a:avLst/>
            </a:prstGeom>
            <a:solidFill>
              <a:srgbClr val="FEBC2E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4BFB670B-BCBF-E6B3-781E-CACC8E8921ED}"/>
                </a:ext>
              </a:extLst>
            </p:cNvPr>
            <p:cNvSpPr/>
            <p:nvPr/>
          </p:nvSpPr>
          <p:spPr>
            <a:xfrm>
              <a:off x="841248" y="740664"/>
              <a:ext cx="118872" cy="118872"/>
            </a:xfrm>
            <a:prstGeom prst="ellipse">
              <a:avLst/>
            </a:prstGeom>
            <a:solidFill>
              <a:srgbClr val="28C840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46E6F0F1-6835-BFB4-F138-21B1729A8AEC}"/>
                </a:ext>
              </a:extLst>
            </p:cNvPr>
            <p:cNvSpPr/>
            <p:nvPr/>
          </p:nvSpPr>
          <p:spPr>
            <a:xfrm>
              <a:off x="1188720" y="722376"/>
              <a:ext cx="4572000" cy="18288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F1D227FA-EB60-BC8E-FB35-C9D8B99A1D8A}"/>
                </a:ext>
              </a:extLst>
            </p:cNvPr>
            <p:cNvSpPr/>
            <p:nvPr/>
          </p:nvSpPr>
          <p:spPr>
            <a:xfrm>
              <a:off x="1188720" y="722376"/>
              <a:ext cx="4572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5A6B7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qualitywater-smv.streamlit.app</a:t>
              </a:r>
              <a:endParaRPr lang="en-US" sz="800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</a:t>
            </a:r>
            <a:r>
              <a:rPr lang="en-US" sz="2600" b="1" dirty="0" err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Filtros</a:t>
            </a: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generales</a:t>
            </a:r>
            <a:endParaRPr lang="en-US" sz="2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B74E569-6498-6913-0D5B-880BEC2D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65" y="1014984"/>
            <a:ext cx="7723761" cy="3668481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FF260EBA-976C-551E-C309-0F941FC428AB}"/>
              </a:ext>
            </a:extLst>
          </p:cNvPr>
          <p:cNvSpPr/>
          <p:nvPr/>
        </p:nvSpPr>
        <p:spPr>
          <a:xfrm>
            <a:off x="516636" y="1804789"/>
            <a:ext cx="1208759" cy="2765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733358D0-DD22-9AE8-99A0-0BA14B8CC695}"/>
              </a:ext>
            </a:extLst>
          </p:cNvPr>
          <p:cNvSpPr/>
          <p:nvPr/>
        </p:nvSpPr>
        <p:spPr>
          <a:xfrm>
            <a:off x="6718853" y="16436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2">
            <a:hlinkClick r:id="rId4" tooltip="https://qualitywater-smv.streamlit.app/"/>
            <a:extLst>
              <a:ext uri="{FF2B5EF4-FFF2-40B4-BE49-F238E27FC236}">
                <a16:creationId xmlns:a16="http://schemas.microsoft.com/office/drawing/2014/main" id="{49C7028E-6F5D-9561-2BC6-86029A214D88}"/>
              </a:ext>
            </a:extLst>
          </p:cNvPr>
          <p:cNvSpPr/>
          <p:nvPr/>
        </p:nvSpPr>
        <p:spPr>
          <a:xfrm>
            <a:off x="6756695" y="170881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8B39-28D2-85D6-194B-62AD4AF1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09BA8-A8DF-1B40-0E79-4A3492AD2BA3}"/>
              </a:ext>
            </a:extLst>
          </p:cNvPr>
          <p:cNvSpPr/>
          <p:nvPr/>
        </p:nvSpPr>
        <p:spPr>
          <a:xfrm>
            <a:off x="548640" y="137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Vivo: </a:t>
            </a:r>
            <a:r>
              <a:rPr lang="en-US" sz="2600" b="1" dirty="0">
                <a:solidFill>
                  <a:srgbClr val="1A2332"/>
                </a:solidFill>
                <a:highlight>
                  <a:srgbClr val="C0C0C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Consultas </a:t>
            </a:r>
            <a:r>
              <a:rPr lang="en-US" sz="2600" b="1" dirty="0" err="1">
                <a:solidFill>
                  <a:srgbClr val="1A2332"/>
                </a:solidFill>
                <a:highlight>
                  <a:srgbClr val="C0C0C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Analíticas</a:t>
            </a:r>
            <a:endParaRPr lang="en-US" sz="2600" dirty="0">
              <a:highlight>
                <a:srgbClr val="C0C0C0"/>
              </a:highlight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473594-78DE-1078-F845-153452F8C785}"/>
              </a:ext>
            </a:extLst>
          </p:cNvPr>
          <p:cNvSpPr/>
          <p:nvPr/>
        </p:nvSpPr>
        <p:spPr>
          <a:xfrm>
            <a:off x="274320" y="658368"/>
            <a:ext cx="8595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0CF010A-C990-1F21-1454-12C4327487A7}"/>
              </a:ext>
            </a:extLst>
          </p:cNvPr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609172-E0CB-C29C-F380-781865E1277F}"/>
              </a:ext>
            </a:extLst>
          </p:cNvPr>
          <p:cNvSpPr/>
          <p:nvPr/>
        </p:nvSpPr>
        <p:spPr>
          <a:xfrm>
            <a:off x="457200" y="74066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CA673D-5BE6-4808-5AC6-C0C85FA074D0}"/>
              </a:ext>
            </a:extLst>
          </p:cNvPr>
          <p:cNvSpPr/>
          <p:nvPr/>
        </p:nvSpPr>
        <p:spPr>
          <a:xfrm>
            <a:off x="649224" y="74066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EC52F7-7395-874F-B8CD-101AD7EE9E70}"/>
              </a:ext>
            </a:extLst>
          </p:cNvPr>
          <p:cNvSpPr/>
          <p:nvPr/>
        </p:nvSpPr>
        <p:spPr>
          <a:xfrm>
            <a:off x="841248" y="74066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37A94E9-7AFD-FADB-FF60-EBDABFC77223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ADFDE4-2129-B21A-BDAC-7C7949A7360A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380969E-276D-C52A-6098-74AC31CA7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51" y="1012884"/>
            <a:ext cx="8035046" cy="3943164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8F2B224E-2DAC-2890-5617-0A2D3C9594B0}"/>
              </a:ext>
            </a:extLst>
          </p:cNvPr>
          <p:cNvSpPr/>
          <p:nvPr/>
        </p:nvSpPr>
        <p:spPr>
          <a:xfrm>
            <a:off x="274320" y="2272025"/>
            <a:ext cx="1316152" cy="512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C7D83D07-0A50-41EB-61E3-A9CBF6226C88}"/>
              </a:ext>
            </a:extLst>
          </p:cNvPr>
          <p:cNvSpPr/>
          <p:nvPr/>
        </p:nvSpPr>
        <p:spPr>
          <a:xfrm>
            <a:off x="6814268" y="180939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2">
            <a:hlinkClick r:id="rId4" tooltip="https://qualitywater-smv.streamlit.app/"/>
            <a:extLst>
              <a:ext uri="{FF2B5EF4-FFF2-40B4-BE49-F238E27FC236}">
                <a16:creationId xmlns:a16="http://schemas.microsoft.com/office/drawing/2014/main" id="{56955B1D-E6B3-833E-66BD-CFF8E92CF704}"/>
              </a:ext>
            </a:extLst>
          </p:cNvPr>
          <p:cNvSpPr/>
          <p:nvPr/>
        </p:nvSpPr>
        <p:spPr>
          <a:xfrm>
            <a:off x="6852110" y="1874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1"/>
                </a:solidFill>
              </a:rPr>
              <a:t>https://qualitywater-smv.streamlit.app/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1623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52AC-8BB0-02CC-90E1-993886DC0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8CAC7-9289-379F-AC23-B23732FC76E2}"/>
              </a:ext>
            </a:extLst>
          </p:cNvPr>
          <p:cNvSpPr/>
          <p:nvPr/>
        </p:nvSpPr>
        <p:spPr>
          <a:xfrm>
            <a:off x="164722" y="137160"/>
            <a:ext cx="8300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en Vivo: </a:t>
            </a:r>
            <a:r>
              <a:rPr lang="en-US" sz="2600" b="1" dirty="0">
                <a:solidFill>
                  <a:srgbClr val="1A2332"/>
                </a:solidFill>
                <a:highlight>
                  <a:srgbClr val="C0C0C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Laboratorio SQL </a:t>
            </a:r>
            <a:r>
              <a:rPr lang="en-US" sz="2600" b="1" dirty="0" err="1">
                <a:solidFill>
                  <a:srgbClr val="1A2332"/>
                </a:solidFill>
                <a:highlight>
                  <a:srgbClr val="C0C0C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Interactivo</a:t>
            </a:r>
            <a:endParaRPr lang="en-US" sz="2600" dirty="0">
              <a:highlight>
                <a:srgbClr val="C0C0C0"/>
              </a:highlight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B8C335-9046-C85D-4D82-E1C1B161C0BC}"/>
              </a:ext>
            </a:extLst>
          </p:cNvPr>
          <p:cNvSpPr/>
          <p:nvPr/>
        </p:nvSpPr>
        <p:spPr>
          <a:xfrm>
            <a:off x="274320" y="612648"/>
            <a:ext cx="85953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D36ACE-234C-9725-F6AD-573926F6ECCE}"/>
              </a:ext>
            </a:extLst>
          </p:cNvPr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22661E-2603-11DE-7BEE-6826CB2C532A}"/>
              </a:ext>
            </a:extLst>
          </p:cNvPr>
          <p:cNvSpPr/>
          <p:nvPr/>
        </p:nvSpPr>
        <p:spPr>
          <a:xfrm>
            <a:off x="457200" y="740664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38804CB-430A-51A7-392A-8811F87FA31E}"/>
              </a:ext>
            </a:extLst>
          </p:cNvPr>
          <p:cNvSpPr/>
          <p:nvPr/>
        </p:nvSpPr>
        <p:spPr>
          <a:xfrm>
            <a:off x="649224" y="740664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72E9A21-C880-22AD-B115-BB78B2F39F35}"/>
              </a:ext>
            </a:extLst>
          </p:cNvPr>
          <p:cNvSpPr/>
          <p:nvPr/>
        </p:nvSpPr>
        <p:spPr>
          <a:xfrm>
            <a:off x="841248" y="740664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52FD21-DD58-C485-EE96-DC0EE7A40738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714E04C-DF02-A59C-8209-6B0AAD10152F}"/>
              </a:ext>
            </a:extLst>
          </p:cNvPr>
          <p:cNvSpPr/>
          <p:nvPr/>
        </p:nvSpPr>
        <p:spPr>
          <a:xfrm>
            <a:off x="1188720" y="722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qualitywater-smv.streamlit.app</a:t>
            </a:r>
            <a:endParaRPr lang="en-US" sz="8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D30353D-763A-5928-841A-A08A1FC50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51" y="978408"/>
            <a:ext cx="7742655" cy="3829923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C292590F-4A7B-B44C-7267-C95F1C773138}"/>
              </a:ext>
            </a:extLst>
          </p:cNvPr>
          <p:cNvSpPr/>
          <p:nvPr/>
        </p:nvSpPr>
        <p:spPr>
          <a:xfrm>
            <a:off x="274320" y="2491740"/>
            <a:ext cx="1231751" cy="29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078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Datos y Hallazgos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749040" cy="228600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 – 3x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en zonas rurales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cabeceras municipales 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periféricos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URBANO-RURAL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10515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54864" cy="10515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Críticas Identificadas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9496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con IRCA &gt; 35% de forma recurrente — Chocó, La Guajira entre los más críticos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331720"/>
            <a:ext cx="3931920" cy="10515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663440" y="2331720"/>
            <a:ext cx="54864" cy="10515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688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Predictiva &gt; 85%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94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tendencia predicen la dirección del cambio del IRCA para el año siguiente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611880"/>
            <a:ext cx="8046720" cy="128016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4"/>
          <p:cNvSpPr/>
          <p:nvPr/>
        </p:nvSpPr>
        <p:spPr>
          <a:xfrm>
            <a:off x="73152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Comparación IRCA Urbano vs. Rural en departamentos seleccionados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14400" y="4423410"/>
            <a:ext cx="274320" cy="24003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1234440" y="4101084"/>
            <a:ext cx="274320" cy="56235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822960" y="4709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Chocó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423160" y="4471416"/>
            <a:ext cx="274320" cy="1920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2743200" y="4183380"/>
            <a:ext cx="274320" cy="4800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2331720" y="4709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Guajira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931920" y="4539996"/>
            <a:ext cx="274320" cy="12344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4251960" y="4286250"/>
            <a:ext cx="274320" cy="37719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3840480" y="4709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Nariño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440680" y="4608576"/>
            <a:ext cx="27432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5"/>
          <p:cNvSpPr/>
          <p:nvPr/>
        </p:nvSpPr>
        <p:spPr>
          <a:xfrm>
            <a:off x="5760720" y="4443984"/>
            <a:ext cx="274320" cy="21945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/>
          <p:nvPr/>
        </p:nvSpPr>
        <p:spPr>
          <a:xfrm>
            <a:off x="5349240" y="4709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Boyacá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949440" y="4642866"/>
            <a:ext cx="274320" cy="2057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8"/>
          <p:cNvSpPr/>
          <p:nvPr/>
        </p:nvSpPr>
        <p:spPr>
          <a:xfrm>
            <a:off x="7269480" y="4615434"/>
            <a:ext cx="274320" cy="4800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9"/>
          <p:cNvSpPr/>
          <p:nvPr/>
        </p:nvSpPr>
        <p:spPr>
          <a:xfrm>
            <a:off x="6858000" y="47091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7315200" y="4023360"/>
            <a:ext cx="182880" cy="1371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1"/>
          <p:cNvSpPr/>
          <p:nvPr/>
        </p:nvSpPr>
        <p:spPr>
          <a:xfrm>
            <a:off x="7543800" y="40233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7315200" y="4206240"/>
            <a:ext cx="182880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3"/>
          <p:cNvSpPr/>
          <p:nvPr/>
        </p:nvSpPr>
        <p:spPr>
          <a:xfrm>
            <a:off x="7543800" y="42062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97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visualización interactiva transforma registros administrativos en instrumentos de vigilancia epidemiológica activa.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56232"/>
            <a:ext cx="8046720" cy="73152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019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una desigualdad estructural en la calidad del agua entre la Colombia urbana y rural, ahora cuantificable con nuestra herramienta.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660904"/>
            <a:ext cx="8046720" cy="73152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8163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70662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open-source (Python + Streamlit) permiten soluciones de alto impacto con costos de licenciamiento nulos.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465576"/>
            <a:ext cx="8046720" cy="73152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621024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51129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ofrece una base sólida para que la SSPD priorice intervenciones basándose en evidencia histórica.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1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años de datos  ·  Millones de registros  ·  De semanas a minutos de análisis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 y Recomendaciones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" cy="12801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Tiempo Real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vía API con laboratorios regionales para reducir tiempos entre muestreo y visualización.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54864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Denuncias Ciudadanas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3212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reportes de anomalías perceptibles (color, olor) para contrastar con datos oficiales.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606040"/>
            <a:ext cx="384048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548640" y="2606040"/>
            <a:ext cx="54864" cy="1280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834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IA Generativa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basado en LLMs para consultas en lenguaje natural sobre calidad del agua.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606040"/>
            <a:ext cx="384048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4754880" y="2606040"/>
            <a:ext cx="54864" cy="128016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834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Móviles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3212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cuando el IRCA supere niveles seguros en la zona del usuario.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s-CO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418835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474720" y="414263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26" name="Text 19"/>
          <p:cNvSpPr/>
          <p:nvPr/>
        </p:nvSpPr>
        <p:spPr>
          <a:xfrm>
            <a:off x="4866198" y="46806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qualitywater-smv.streamlit.app</a:t>
            </a:r>
            <a:endParaRPr lang="en-US" sz="13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8CE3369-75D8-6A81-2D39-63344D78D53C}"/>
              </a:ext>
            </a:extLst>
          </p:cNvPr>
          <p:cNvSpPr/>
          <p:nvPr/>
        </p:nvSpPr>
        <p:spPr>
          <a:xfrm>
            <a:off x="284259" y="46806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https://sandravillegas-hash.github.io/QualityWater/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1d61bbe-e9ae-4b29-a328-6c6085fa38c1}" enabled="1" method="Privileged" siteId="{3c0bd4fe-1111-4d13-8e0c-7c33b9eb758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2198</TotalTime>
  <Words>912</Words>
  <Application>Microsoft Office PowerPoint</Application>
  <PresentationFormat>Presentación en pantalla (16:9)</PresentationFormat>
  <Paragraphs>168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AquaRisk Colombia - Presentación</dc:title>
  <dc:subject>PptxGenJS Presentation</dc:subject>
  <dc:creator>AquaRisk Colombia Team</dc:creator>
  <cp:lastModifiedBy>Sandra Milena Villegas Serna</cp:lastModifiedBy>
  <cp:revision>11</cp:revision>
  <dcterms:created xsi:type="dcterms:W3CDTF">2026-03-28T04:39:30Z</dcterms:created>
  <dcterms:modified xsi:type="dcterms:W3CDTF">2026-04-08T01:26:47Z</dcterms:modified>
</cp:coreProperties>
</file>